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Biodegradable (kg/d)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Sheet1!$A$2:$A$9</c:f>
              <c:strCache>
                <c:ptCount val="8"/>
                <c:pt idx="0">
                  <c:v>Rajendra</c:v>
                </c:pt>
                <c:pt idx="1">
                  <c:v>MAC Hub</c:v>
                </c:pt>
                <c:pt idx="2">
                  <c:v>Govind</c:v>
                </c:pt>
                <c:pt idx="3">
                  <c:v>Sarojini</c:v>
                </c:pt>
                <c:pt idx="4">
                  <c:v>Jawahar</c:v>
                </c:pt>
                <c:pt idx="5">
                  <c:v>Kasturba</c:v>
                </c:pt>
                <c:pt idx="6">
                  <c:v>Thomason</c:v>
                </c:pt>
                <c:pt idx="7">
                  <c:v>LHC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444.9</c:v>
                </c:pt>
                <c:pt idx="1">
                  <c:v>413.9</c:v>
                </c:pt>
                <c:pt idx="2">
                  <c:v>344.6</c:v>
                </c:pt>
                <c:pt idx="3">
                  <c:v>248.0</c:v>
                </c:pt>
                <c:pt idx="4">
                  <c:v>251.0</c:v>
                </c:pt>
                <c:pt idx="5">
                  <c:v>214.5</c:v>
                </c:pt>
                <c:pt idx="6">
                  <c:v>64.5</c:v>
                </c:pt>
                <c:pt idx="7">
                  <c:v>44.4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Recyclable (kg/d)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Sheet1!$A$2:$A$9</c:f>
              <c:strCache>
                <c:ptCount val="8"/>
                <c:pt idx="0">
                  <c:v>Rajendra</c:v>
                </c:pt>
                <c:pt idx="1">
                  <c:v>MAC Hub</c:v>
                </c:pt>
                <c:pt idx="2">
                  <c:v>Govind</c:v>
                </c:pt>
                <c:pt idx="3">
                  <c:v>Sarojini</c:v>
                </c:pt>
                <c:pt idx="4">
                  <c:v>Jawahar</c:v>
                </c:pt>
                <c:pt idx="5">
                  <c:v>Kasturba</c:v>
                </c:pt>
                <c:pt idx="6">
                  <c:v>Thomason</c:v>
                </c:pt>
                <c:pt idx="7">
                  <c:v>LHC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182.3</c:v>
                </c:pt>
                <c:pt idx="1">
                  <c:v>122.3</c:v>
                </c:pt>
                <c:pt idx="2">
                  <c:v>152.0</c:v>
                </c:pt>
                <c:pt idx="3">
                  <c:v>129.0</c:v>
                </c:pt>
                <c:pt idx="4">
                  <c:v>118.3</c:v>
                </c:pt>
                <c:pt idx="5">
                  <c:v>97.5</c:v>
                </c:pt>
                <c:pt idx="6">
                  <c:v>191.0</c:v>
                </c:pt>
                <c:pt idx="7">
                  <c:v>172.2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DejaVu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DejaVu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DejaVu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Total (kg)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Sheet1!$A$2:$A$8</c:f>
              <c:strCache>
                <c:ptCount val="7"/>
                <c:pt idx="0">
                  <c:v>25 Oct</c:v>
                </c:pt>
                <c:pt idx="1">
                  <c:v>26 Oct</c:v>
                </c:pt>
                <c:pt idx="2">
                  <c:v>27 Oct</c:v>
                </c:pt>
                <c:pt idx="3">
                  <c:v>28 Oct</c:v>
                </c:pt>
                <c:pt idx="4">
                  <c:v>29 Oct</c:v>
                </c:pt>
                <c:pt idx="5">
                  <c:v>30 Oct</c:v>
                </c:pt>
                <c:pt idx="6">
                  <c:v>31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3702.1</c:v>
                </c:pt>
                <c:pt idx="1">
                  <c:v>3302.5</c:v>
                </c:pt>
                <c:pt idx="2">
                  <c:v>3306.2</c:v>
                </c:pt>
                <c:pt idx="3">
                  <c:v>3306.3</c:v>
                </c:pt>
                <c:pt idx="4">
                  <c:v>3293.9</c:v>
                </c:pt>
                <c:pt idx="5">
                  <c:v>3314.5</c:v>
                </c:pt>
                <c:pt idx="6">
                  <c:v>3605.4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Biogas Organic (kg)</c:v>
                </c:pt>
              </c:strCache>
            </c:strRef>
          </c:tx>
          <c:spPr>
            <a:solidFill>
              <a:srgbClr val="0F4C3A"/>
            </a:solidFill>
          </c:spPr>
          <c:cat>
            <c:strRef>
              <c:f>Sheet1!$A$2:$A$8</c:f>
              <c:strCache>
                <c:ptCount val="7"/>
                <c:pt idx="0">
                  <c:v>25 Oct</c:v>
                </c:pt>
                <c:pt idx="1">
                  <c:v>26 Oct</c:v>
                </c:pt>
                <c:pt idx="2">
                  <c:v>27 Oct</c:v>
                </c:pt>
                <c:pt idx="3">
                  <c:v>28 Oct</c:v>
                </c:pt>
                <c:pt idx="4">
                  <c:v>29 Oct</c:v>
                </c:pt>
                <c:pt idx="5">
                  <c:v>30 Oct</c:v>
                </c:pt>
                <c:pt idx="6">
                  <c:v>31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2088.5</c:v>
                </c:pt>
                <c:pt idx="1">
                  <c:v>1835.4</c:v>
                </c:pt>
                <c:pt idx="2">
                  <c:v>1843.5</c:v>
                </c:pt>
                <c:pt idx="3">
                  <c:v>1847.0</c:v>
                </c:pt>
                <c:pt idx="4">
                  <c:v>1844.6</c:v>
                </c:pt>
                <c:pt idx="5">
                  <c:v>1863.9</c:v>
                </c:pt>
                <c:pt idx="6">
                  <c:v>2046.8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DejaVu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DejaVu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DejaVu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0F4C3A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4400" b="1">
                <a:solidFill>
                  <a:srgbClr val="F8FAFC"/>
                </a:solidFill>
                <a:latin typeface="DejaVu Sans"/>
              </a:rPr>
              <a:t>EcoPulse IITR: Predictive Waste &amp; Voice Hub</a:t>
            </a:r>
          </a:p>
          <a:p>
            <a:pPr>
              <a:spcAft>
                <a:spcPts val="2400"/>
              </a:spcAft>
            </a:pPr>
            <a:r>
              <a:rPr sz="2000">
                <a:solidFill>
                  <a:srgbClr val="FBBF24"/>
                </a:solidFill>
                <a:latin typeface="DejaVu Sans"/>
              </a:rPr>
              <a:t>Forecasting Campus Waste &amp; Automating Multilingual Voice Interventions</a:t>
            </a:r>
          </a:p>
          <a:p>
            <a:r>
              <a:rPr sz="1500">
                <a:solidFill>
                  <a:srgbClr val="E2E8F0"/>
                </a:solidFill>
                <a:latin typeface="DejaVu Sans"/>
              </a:rPr>
              <a:t>Sociothon 2026 • NSS IIT Roorkee | Category D | 24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1. PROBLEM &amp; CATEGORY D SELECTION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Why Static Waste Tracking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D3 Anchor + Voice AI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3.62 Tonnes Daily: </a:t>
            </a:r>
            <a:r>
              <a:rPr sz="1500">
                <a:solidFill>
                  <a:srgbClr val="475569"/>
                </a:solidFill>
                <a:latin typeface="DejaVu Sans"/>
              </a:rPr>
              <a:t>Generated across 8 IITR zones &amp; 11,490 residents.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Fixed-Route Waste: </a:t>
            </a:r>
            <a:r>
              <a:rPr sz="1500">
                <a:solidFill>
                  <a:srgbClr val="475569"/>
                </a:solidFill>
                <a:latin typeface="DejaVu Sans"/>
              </a:rPr>
              <a:t>Static carts overflow on weekends and fest days.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Contamination Loss: </a:t>
            </a:r>
            <a:r>
              <a:rPr sz="1500">
                <a:solidFill>
                  <a:srgbClr val="475569"/>
                </a:solidFill>
                <a:latin typeface="DejaVu Sans"/>
              </a:rPr>
              <a:t>Mixed wet food ruins dry recyclables at Govind Bhawan.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Silent Dashboards: </a:t>
            </a:r>
            <a:r>
              <a:rPr sz="1500">
                <a:solidFill>
                  <a:srgbClr val="475569"/>
                </a:solidFill>
                <a:latin typeface="DejaVu Sans"/>
              </a:rPr>
              <a:t>Sanitation staff cannot read English charts on shift.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Unified D1–D4 Hub: </a:t>
            </a:r>
            <a:r>
              <a:rPr sz="1500">
                <a:solidFill>
                  <a:srgbClr val="475569"/>
                </a:solidFill>
                <a:latin typeface="DejaVu Sans"/>
              </a:rPr>
              <a:t>Combines ML forecasting (D3) with Hindi voice nudges.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Sociothon 2026 Problem Statement &amp; CPCB Institutional Waste Norms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2. HYBRID REAL + SYNTHETIC DATA PIPELINE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CPCB-Calibrated Data Tracks 8 IITR Campus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1,440 Zone-Day Records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CPCB Norms: </a:t>
            </a:r>
            <a:r>
              <a:rPr sz="1500">
                <a:solidFill>
                  <a:srgbClr val="475569"/>
                </a:solidFill>
                <a:latin typeface="DejaVu Sans"/>
              </a:rPr>
              <a:t>0.43–0.50 kg/student/day in hostels; 0.12 kg in LHC.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SWM 2016 Split: </a:t>
            </a:r>
            <a:r>
              <a:rPr sz="1500">
                <a:solidFill>
                  <a:srgbClr val="475569"/>
                </a:solidFill>
                <a:latin typeface="DejaVu Sans"/>
              </a:rPr>
              <a:t>60% Organic (Green), 28% Recyclable (Blue), 12% Inert.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Top Performer: </a:t>
            </a:r>
            <a:r>
              <a:rPr sz="1500">
                <a:solidFill>
                  <a:srgbClr val="475569"/>
                </a:solidFill>
                <a:latin typeface="DejaVu Sans"/>
              </a:rPr>
              <a:t>Sarojini Bhawan leads campus at 93.8% segregation.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Intervention Zone: </a:t>
            </a:r>
            <a:r>
              <a:rPr sz="1500">
                <a:solidFill>
                  <a:srgbClr val="475569"/>
                </a:solidFill>
                <a:latin typeface="DejaVu Sans"/>
              </a:rPr>
              <a:t>Govind Bhawan (72.0%) triggers automatic Hindi alerts.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120640" y="201168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iitr_campus_waste_data.csv (180-Day Calibrated Dataset) &amp; MoEFCC SWM Rules 2016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3. END-TO-END WORKFLOW &amp; ML FORECASTER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Gradient Boosting Predicts 7-Day Waste With 94.2%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5-Stage ML Pipeline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1. QR Weigh-In: </a:t>
            </a:r>
            <a:r>
              <a:rPr sz="1500">
                <a:solidFill>
                  <a:srgbClr val="475569"/>
                </a:solidFill>
                <a:latin typeface="DejaVu Sans"/>
              </a:rPr>
              <a:t>Supervisors log bin weight via ₹650 scale in 10s.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2. Lag Features: </a:t>
            </a:r>
            <a:r>
              <a:rPr sz="1500">
                <a:solidFill>
                  <a:srgbClr val="475569"/>
                </a:solidFill>
                <a:latin typeface="DejaVu Sans"/>
              </a:rPr>
              <a:t>1d/7d lags, rolling std, weekend &amp; fest indicators.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3. GBR Accuracy: </a:t>
            </a:r>
            <a:r>
              <a:rPr sz="1500">
                <a:solidFill>
                  <a:srgbClr val="475569"/>
                </a:solidFill>
                <a:latin typeface="DejaVu Sans"/>
              </a:rPr>
              <a:t>R² = 0.942, MAE = 14.2 kg, MAPE = 4.15% on test set.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4. Biogas Slurry: </a:t>
            </a:r>
            <a:r>
              <a:rPr sz="1500">
                <a:solidFill>
                  <a:srgbClr val="475569"/>
                </a:solidFill>
                <a:latin typeface="DejaVu Sans"/>
              </a:rPr>
              <a:t>Predicts 2,088.5 kg organic feed for Sunday 25 Oct.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120640" y="201168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ecopulse_iitr_backend.py GradientBoostingRegressor (180 estimators, depth 4)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4. MULTILINGUAL VOICE INTERVENTION &amp; CREDIT MATH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131,000 ElevenLabs Credits Power 6 Months of Campus Voice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9829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1. Hindi Alerts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06:30 AM Alert: </a:t>
            </a:r>
            <a:r>
              <a:rPr sz="1500">
                <a:solidFill>
                  <a:srgbClr val="475569"/>
                </a:solidFill>
                <a:latin typeface="DejaVu Sans"/>
              </a:rPr>
              <a:t>Hindi audio notes sent to 8 leads.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Multilingual v2: </a:t>
            </a:r>
            <a:r>
              <a:rPr sz="1500">
                <a:solidFill>
                  <a:srgbClr val="475569"/>
                </a:solidFill>
                <a:latin typeface="DejaVu Sans"/>
              </a:rPr>
              <a:t>Clear Hindi voice for Bhawan loads.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Dynamic Stitch: </a:t>
            </a:r>
            <a:r>
              <a:rPr sz="1500">
                <a:solidFill>
                  <a:srgbClr val="475569"/>
                </a:solidFill>
                <a:latin typeface="DejaVu Sans"/>
              </a:rPr>
              <a:t>1,120 dynamic chars/day for 8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09829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2. Mess Nudges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Mess Speaker: </a:t>
            </a:r>
            <a:r>
              <a:rPr sz="1500">
                <a:solidFill>
                  <a:srgbClr val="475569"/>
                </a:solidFill>
                <a:latin typeface="DejaVu Sans"/>
              </a:rPr>
              <a:t>Instant voice nudge at plate return.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Flash v2.5: </a:t>
            </a:r>
            <a:r>
              <a:rPr sz="1500">
                <a:solidFill>
                  <a:srgbClr val="475569"/>
                </a:solidFill>
                <a:latin typeface="DejaVu Sans"/>
              </a:rPr>
              <a:t>75ms latency at 0.5 credits/char.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SHA-256 Cache: </a:t>
            </a:r>
            <a:r>
              <a:rPr sz="1500">
                <a:solidFill>
                  <a:srgbClr val="475569"/>
                </a:solidFill>
                <a:latin typeface="DejaVu Sans"/>
              </a:rPr>
              <a:t>45 clips cached once; 0 daily burn.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09829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64109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3. 131k Runway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Daily Burn: </a:t>
            </a:r>
            <a:r>
              <a:rPr sz="1500">
                <a:solidFill>
                  <a:srgbClr val="475569"/>
                </a:solidFill>
                <a:latin typeface="DejaVu Sans"/>
              </a:rPr>
              <a:t>1,280 credits/day in hybrid mode.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3.3–6 Months: </a:t>
            </a:r>
            <a:r>
              <a:rPr sz="1500">
                <a:solidFill>
                  <a:srgbClr val="475569"/>
                </a:solidFill>
                <a:latin typeface="DejaVu Sans"/>
              </a:rPr>
              <a:t>131k credits fund 99–176 full days.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29+ Languages: </a:t>
            </a:r>
            <a:r>
              <a:rPr sz="1500">
                <a:solidFill>
                  <a:srgbClr val="475569"/>
                </a:solidFill>
                <a:latin typeface="DejaVu Sans"/>
              </a:rPr>
              <a:t>Scales to Tamil, Bengali, Marathi.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ElevenLabs Creator Plan Pricing &amp; EcoPulse SHA-256 Audio Caching Engine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5. SCALABILITY FROM 1 BHAWAN TO 40 MUNICIPAL WARDS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Zero-Lock-In Architecture Scales at ₹740 Per New Building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554480"/>
                <a:gridCol w="1188720"/>
                <a:gridCol w="1371600"/>
                <a:gridCol w="2834640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Deployment Tier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Target Scope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Zones / Pop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Total CapEx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Marginal Cost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Scaling Mechanism</a:t>
                      </a:r>
                    </a:p>
                  </a:txBody>
                  <a:tcPr anchor="ctr">
                    <a:solidFill>
                      <a:srgbClr val="0F4C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Tier 1: Pilot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Govind, Sarojini, MAC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3 Zones (3.7k)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₹3,950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Baseline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3 scales + QR plates + 480 cred/day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Tier 2: Full IITR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14 Bhawans, 6 Messes, LHC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25 Zones (15k)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₹18,500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₹740 / zone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SHA-256 cached stems + anomaly TTS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Tier 3: Multi-Campus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COER, NIT UK, Pantnagar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100+ Zones (1.2L)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Open SaaS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₹250 / zone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Cold-starts on CPCB per-capita priors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Tier 4: Municipal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Roorkee Nagar Nigam ULB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40 Wards (3.5L)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₹34,000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₹850 / 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SBM-Urban 2.0 &amp; Swachh Star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EcoPulse IITR Hardware-Agnostic Unit Economics vs ₹15,000 Ultrasonic Smart Bins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06"/>
                </a:solidFill>
                <a:latin typeface="DejaVu Sans"/>
              </a:rPr>
              <a:t>6. IMPACT ASSESSMENT &amp; LIVE PROTOTYPE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Pilot Diverts 54.8 Tonnes Yearly &amp; Cuts Overflows by 88%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Green Impact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+54.8 t/Year: </a:t>
            </a:r>
            <a:r>
              <a:rPr sz="1500">
                <a:solidFill>
                  <a:srgbClr val="475569"/>
                </a:solidFill>
                <a:latin typeface="DejaVu Sans"/>
              </a:rPr>
              <a:t>Extra waste diverted (+150 kg/day).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-41.2 tCO2e/Yr: </a:t>
            </a:r>
            <a:r>
              <a:rPr sz="1500">
                <a:solidFill>
                  <a:srgbClr val="475569"/>
                </a:solidFill>
                <a:latin typeface="DejaVu Sans"/>
              </a:rPr>
              <a:t>Methane cut via mess biogas feed.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84.3% Purity: </a:t>
            </a:r>
            <a:r>
              <a:rPr sz="1500">
                <a:solidFill>
                  <a:srgbClr val="475569"/>
                </a:solidFill>
                <a:latin typeface="DejaVu Sans"/>
              </a:rPr>
              <a:t>Segregation up +7.3% across 8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Cost &amp; Logistics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-88% Overflows: </a:t>
            </a:r>
            <a:r>
              <a:rPr sz="1500">
                <a:solidFill>
                  <a:srgbClr val="475569"/>
                </a:solidFill>
                <a:latin typeface="DejaVu Sans"/>
              </a:rPr>
              <a:t>Monthly overflows cut from 34 to 4.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-13.1% Landfill: </a:t>
            </a:r>
            <a:r>
              <a:rPr sz="1500">
                <a:solidFill>
                  <a:srgbClr val="475569"/>
                </a:solidFill>
                <a:latin typeface="DejaVu Sans"/>
              </a:rPr>
              <a:t>Landfill load cut by 201.2 kg/day.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₹14,500 CapEx: </a:t>
            </a:r>
            <a:r>
              <a:rPr sz="1500">
                <a:solidFill>
                  <a:srgbClr val="475569"/>
                </a:solidFill>
                <a:latin typeface="DejaVu Sans"/>
              </a:rPr>
              <a:t>10x cheaper than ultrasonic bins.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F4C3A"/>
                </a:solidFill>
                <a:latin typeface="DejaVu Sans"/>
              </a:rPr>
              <a:t>Campus Value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Safai Mitras: </a:t>
            </a:r>
            <a:r>
              <a:rPr sz="1500">
                <a:solidFill>
                  <a:srgbClr val="475569"/>
                </a:solidFill>
                <a:latin typeface="DejaVu Sans"/>
              </a:rPr>
              <a:t>Native Hindi voice coaching daily.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Green Cup: </a:t>
            </a:r>
            <a:r>
              <a:rPr sz="1500">
                <a:solidFill>
                  <a:srgbClr val="475569"/>
                </a:solidFill>
                <a:latin typeface="DejaVu Sans"/>
              </a:rPr>
              <a:t>Live inter-bhawan ranking board.</a:t>
            </a:r>
          </a:p>
          <a:p>
            <a:pPr algn="l" marL="219456" indent="-219456">
              <a:spcAft>
                <a:spcPts val="12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Live Web App: </a:t>
            </a:r>
            <a:r>
              <a:rPr sz="1500">
                <a:solidFill>
                  <a:srgbClr val="475569"/>
                </a:solidFill>
                <a:latin typeface="DejaVu Sans"/>
              </a:rPr>
              <a:t>5-tab dashboard with live TTS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60-Day Pilot Evaluation on iitr_campus_waste_data.csv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</a:pPr>
            <a:r>
              <a:rPr sz="3800" b="1">
                <a:solidFill>
                  <a:srgbClr val="F8FAFC"/>
                </a:solidFill>
                <a:latin typeface="DejaVu Sans"/>
              </a:rPr>
              <a:t>When Data Speaks, Campuses Become Zero-Waste.</a:t>
            </a:r>
          </a:p>
          <a:p>
            <a:pPr algn="ctr">
              <a:spcAft>
                <a:spcPts val="2400"/>
              </a:spcAft>
            </a:pPr>
            <a:r>
              <a:rPr sz="2200">
                <a:solidFill>
                  <a:srgbClr val="FBBF24"/>
                </a:solidFill>
                <a:latin typeface="DejaVu Sans"/>
              </a:rPr>
              <a:t>Thank You • Questions &amp; Live Voice Demo</a:t>
            </a:r>
          </a:p>
          <a:p>
            <a:pPr algn="ctr"/>
            <a:r>
              <a:rPr sz="1500">
                <a:solidFill>
                  <a:srgbClr val="CBD5E1"/>
                </a:solidFill>
                <a:latin typeface="DejaVu Sans"/>
              </a:rPr>
              <a:t>Team EcoPulse IITR | Sociothon 2026 • NSS IIT Roorkee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